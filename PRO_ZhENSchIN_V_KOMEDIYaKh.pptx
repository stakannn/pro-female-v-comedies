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5" r:id="rId5"/>
    <p:sldId id="258" r:id="rId6"/>
    <p:sldId id="260" r:id="rId7"/>
    <p:sldId id="267" r:id="rId8"/>
    <p:sldId id="270" r:id="rId9"/>
    <p:sldId id="261" r:id="rId10"/>
    <p:sldId id="268" r:id="rId11"/>
    <p:sldId id="269" r:id="rId12"/>
    <p:sldId id="275" r:id="rId13"/>
    <p:sldId id="262" r:id="rId14"/>
    <p:sldId id="271" r:id="rId15"/>
    <p:sldId id="272" r:id="rId16"/>
    <p:sldId id="276" r:id="rId17"/>
    <p:sldId id="273" r:id="rId18"/>
    <p:sldId id="274" r:id="rId19"/>
    <p:sldId id="263" r:id="rId20"/>
    <p:sldId id="264" r:id="rId21"/>
    <p:sldId id="277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1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ED729-1F18-4C02-82DC-36B0D16DE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C7E90E-A78E-497C-B0EB-A78123932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CC4974-64AE-4F44-BCF7-AFC529CC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B7996-BED1-45D4-9D6A-4308AFE1D416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FC871B-7D3D-49C7-AD60-6CD7669B3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4CFE96-1060-468B-9609-3CED398AA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C3D4A-AFE1-4F4E-96E7-AF1AFD45B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112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550EB6-E7AF-4F57-B9A2-9B495263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982EE2-3904-4824-B732-C70D1568E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7AD6E0-363C-441C-AD94-25A49087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B7996-BED1-45D4-9D6A-4308AFE1D416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572F72-F8FB-4F02-97FB-A646FA68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01CFB5-A6CE-4AAE-8D38-2AF02A28E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C3D4A-AFE1-4F4E-96E7-AF1AFD45B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7447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61EA2C-019F-42A0-84A2-248D99C2B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E8604C-ED5F-4912-8899-173486116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8FFA24-2055-4D7E-935D-429DC761F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B7996-BED1-45D4-9D6A-4308AFE1D416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560B65-62D4-411B-9BEE-758557908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FDA4DB-BA66-43E5-B4DF-411CEEAAA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C3D4A-AFE1-4F4E-96E7-AF1AFD45B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996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A068A4-839A-4EF6-9D39-E4B1D7134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3A7B8E-E317-49DF-9524-F4EADC6EB9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37A59BF-3479-4DF7-ADCF-87B5B03FC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37D6CD-1DAF-43AC-8A98-5AB6939C7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B7996-BED1-45D4-9D6A-4308AFE1D416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CBCF6D5-B37E-4D8F-92D7-B16BD1078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4DE8B8-C54F-4118-91C8-F725D4B31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C3D4A-AFE1-4F4E-96E7-AF1AFD45B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722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C96CAE-547B-4A40-BD5E-00E3B3647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E4624E-13F4-468F-B082-4E469779F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940EB4-6AC5-4834-B955-FF68ED938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3FA0BF9-B01C-4673-A190-7B3369120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AA0D3F6-BA89-42EC-BD33-3A2CDDA668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65E01E4-D245-4D0B-B4FB-295D32C82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B7996-BED1-45D4-9D6A-4308AFE1D416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A65EF83-0DF9-4F60-AC75-D5C0D6822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9FBCBED-B2C4-4599-8976-32B141C8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C3D4A-AFE1-4F4E-96E7-AF1AFD45B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059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2E5DFA-13CD-4F67-97C5-80D3E807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EED48D4-DED8-46ED-896D-835757F94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B7996-BED1-45D4-9D6A-4308AFE1D416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84891FA-48B7-4DBA-A26E-728E3BC04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2E6CE1-6EE3-4678-89BB-6E277EB0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C3D4A-AFE1-4F4E-96E7-AF1AFD45B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234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EFED6E0-BDC5-4CCE-B198-6133DBB31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B7996-BED1-45D4-9D6A-4308AFE1D416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030F627-075F-454D-BC43-04A77B47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AE91AF-C863-4766-B7F4-4C9FE702A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C3D4A-AFE1-4F4E-96E7-AF1AFD45B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792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A05652-48D4-4300-87DF-5F223CC26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9D4C03-097B-4B02-AC3F-5D368BF5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63C5E9-7F21-49DE-BD27-86B98F3E3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914BB3-5546-496F-B45D-BA99F31C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B7996-BED1-45D4-9D6A-4308AFE1D416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2F3F00-D5DA-4112-8356-0662AD181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17D670-35B3-41E3-803A-CB2D954DC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C3D4A-AFE1-4F4E-96E7-AF1AFD45B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46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1D9292-B28A-4791-B8E8-F1C7BEDBC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D9C5D98-D2D7-40BB-A0B1-95BC7ECCCF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1033A41-36CF-4044-956A-62C8BD119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BE604F-458C-4310-8436-807B0AA67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B7996-BED1-45D4-9D6A-4308AFE1D416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F9550C-272D-4232-B8A7-F8BEDE5DF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09F58F3-907A-4002-B34D-CC3D7CFC8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C3D4A-AFE1-4F4E-96E7-AF1AFD45B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8416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1DADD-405E-411A-A056-DF12928D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16C4F0-E308-4A6A-BC73-06F43A68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CA813-42DD-48B4-A194-D59C7EFFC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B7996-BED1-45D4-9D6A-4308AFE1D416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5260A6-9053-499F-98D4-C98AAC128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FEB9B8-D4C7-4A94-B055-AA00C74FB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C3D4A-AFE1-4F4E-96E7-AF1AFD45B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829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239BFD1-8815-460E-AC5E-F6C18CC29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43E7DD-6192-4267-A3EA-8B18AD16D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89E685-7339-4BB4-A668-D0B479AF9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B7996-BED1-45D4-9D6A-4308AFE1D416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86CF8D-4A83-4179-9F06-3389926B7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8C1E1-D222-4C43-8E15-A2F78E055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C3D4A-AFE1-4F4E-96E7-AF1AFD45B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196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CD7BC5-61A4-4706-8FAB-903DBC139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4D9882-0A20-4117-AD2F-21A3BDCF3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7B0C4E-1184-417D-AA91-7FD16BD08E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B7996-BED1-45D4-9D6A-4308AFE1D416}" type="datetimeFigureOut">
              <a:rPr lang="ru-RU" smtClean="0"/>
              <a:t>03.04.2021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6AB367-A02A-4708-AD0D-36020DD1D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9F67C1-A218-4C87-A930-FB42D292A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C3D4A-AFE1-4F4E-96E7-AF1AFD45B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169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FIBskNZror04YkSIScyb526vJrBPgTifXm0Tj327ohk/edit?usp=sharing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59CD61-E418-47EB-A639-EEB9D304F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508398"/>
            <a:ext cx="12192000" cy="1650137"/>
          </a:xfrm>
        </p:spPr>
        <p:txBody>
          <a:bodyPr anchor="ctr">
            <a:normAutofit/>
          </a:bodyPr>
          <a:lstStyle/>
          <a:p>
            <a:r>
              <a:rPr lang="ru-RU" sz="7200" dirty="0">
                <a:solidFill>
                  <a:srgbClr val="FF6600"/>
                </a:solidFill>
                <a:latin typeface="Bahnschrift Condensed" panose="020B0502040204020203" pitchFamily="34" charset="0"/>
              </a:rPr>
              <a:t>ПРО ЖЕНЩИН В КОМЕДИЯХ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A23E43-46B6-4C8A-A2F1-98FAB7BBA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237935"/>
            <a:ext cx="12192000" cy="1327771"/>
          </a:xfrm>
        </p:spPr>
        <p:txBody>
          <a:bodyPr anchor="ctr">
            <a:normAutofit lnSpcReduction="10000"/>
          </a:bodyPr>
          <a:lstStyle/>
          <a:p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Аня Александрова</a:t>
            </a:r>
          </a:p>
          <a:p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Саша Березовская</a:t>
            </a:r>
          </a:p>
          <a:p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Оля Кузенкова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D72EAA-31FA-48F1-A54C-56A0819FF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67" b="96000" l="2750" r="97000">
                        <a14:foregroundMark x1="33000" y1="86667" x2="25000" y2="93167"/>
                        <a14:foregroundMark x1="25000" y1="93167" x2="22524" y2="92811"/>
                        <a14:foregroundMark x1="14743" y1="90485" x2="17713" y2="89475"/>
                        <a14:foregroundMark x1="25185" y1="88189" x2="29750" y2="95000"/>
                        <a14:foregroundMark x1="29750" y1="95000" x2="21337" y2="93867"/>
                        <a14:foregroundMark x1="9241" y1="89803" x2="10116" y2="89419"/>
                        <a14:foregroundMark x1="25146" y1="85248" x2="28500" y2="84667"/>
                        <a14:foregroundMark x1="28500" y1="84667" x2="30750" y2="82667"/>
                        <a14:foregroundMark x1="52250" y1="88833" x2="60750" y2="96000"/>
                        <a14:foregroundMark x1="55880" y1="90782" x2="53750" y2="88500"/>
                        <a14:foregroundMark x1="60750" y1="96000" x2="56688" y2="91647"/>
                        <a14:foregroundMark x1="53750" y1="88500" x2="53750" y2="84833"/>
                        <a14:foregroundMark x1="88250" y1="49333" x2="90000" y2="46667"/>
                        <a14:foregroundMark x1="93991" y1="49333" x2="92108" y2="52036"/>
                        <a14:foregroundMark x1="48250" y1="11333" x2="59000" y2="6667"/>
                        <a14:foregroundMark x1="59935" y1="7602" x2="59827" y2="7494"/>
                        <a14:foregroundMark x1="59000" y1="6667" x2="59908" y2="7575"/>
                        <a14:foregroundMark x1="6000" y1="88833" x2="5699" y2="89436"/>
                        <a14:foregroundMark x1="3861" y1="90167" x2="2750" y2="90167"/>
                        <a14:backgroundMark x1="25250" y1="85333" x2="15500" y2="87667"/>
                        <a14:backgroundMark x1="12250" y1="87667" x2="16500" y2="88667"/>
                        <a14:backgroundMark x1="2250" y1="92000" x2="7750" y2="91500"/>
                        <a14:backgroundMark x1="7500" y1="92000" x2="21000" y2="94167"/>
                        <a14:backgroundMark x1="60500" y1="91833" x2="58750" y2="92833"/>
                        <a14:backgroundMark x1="94250" y1="49667" x2="98000" y2="49833"/>
                        <a14:backgroundMark x1="94750" y1="49333" x2="94750" y2="49333"/>
                        <a14:backgroundMark x1="94750" y1="49333" x2="94750" y2="49333"/>
                        <a14:backgroundMark x1="94000" y1="49333" x2="94000" y2="49333"/>
                        <a14:backgroundMark x1="94000" y1="49333" x2="94000" y2="49333"/>
                        <a14:backgroundMark x1="94250" y1="49333" x2="94250" y2="49333"/>
                        <a14:backgroundMark x1="95750" y1="47000" x2="99000" y2="47500"/>
                        <a14:backgroundMark x1="62000" y1="10833" x2="61250" y2="5000"/>
                        <a14:backgroundMark x1="61750" y1="10333" x2="61750" y2="8167"/>
                        <a14:backgroundMark x1="61750" y1="9833" x2="61750" y2="7000"/>
                        <a14:backgroundMark x1="61250" y1="10333" x2="61000" y2="7500"/>
                        <a14:backgroundMark x1="65750" y1="11167" x2="62250" y2="10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175" y="1499753"/>
            <a:ext cx="2942825" cy="441423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409BDB-9398-4BB8-9400-70DCC18EB1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07" b="95278" l="4457" r="90669">
                        <a14:foregroundMark x1="67900" y1="20863" x2="67409" y2="20000"/>
                        <a14:foregroundMark x1="71309" y1="26852" x2="67954" y2="20958"/>
                        <a14:foregroundMark x1="67409" y1="20000" x2="68929" y2="19788"/>
                        <a14:foregroundMark x1="86748" y1="16245" x2="81793" y2="15595"/>
                        <a14:foregroundMark x1="71875" y1="16735" x2="69499" y2="17130"/>
                        <a14:foregroundMark x1="69499" y1="17130" x2="66009" y2="21447"/>
                        <a14:foregroundMark x1="65912" y1="24387" x2="72006" y2="28889"/>
                        <a14:foregroundMark x1="72006" y1="28889" x2="68524" y2="21944"/>
                        <a14:foregroundMark x1="68524" y1="21944" x2="68524" y2="21204"/>
                        <a14:foregroundMark x1="13231" y1="45648" x2="4596" y2="50463"/>
                        <a14:foregroundMark x1="4596" y1="50463" x2="10446" y2="56389"/>
                        <a14:foregroundMark x1="10446" y1="56389" x2="13649" y2="49259"/>
                        <a14:foregroundMark x1="13649" y1="49259" x2="12674" y2="46601"/>
                        <a14:foregroundMark x1="69081" y1="90926" x2="78389" y2="92354"/>
                        <a14:foregroundMark x1="82725" y1="91132" x2="88579" y2="88056"/>
                        <a14:foregroundMark x1="88579" y1="88056" x2="77298" y2="90093"/>
                        <a14:foregroundMark x1="77298" y1="90093" x2="73398" y2="90093"/>
                        <a14:foregroundMark x1="69777" y1="92500" x2="78316" y2="92290"/>
                        <a14:foregroundMark x1="40947" y1="90741" x2="37696" y2="96143"/>
                        <a14:foregroundMark x1="41096" y1="96514" x2="47632" y2="95370"/>
                        <a14:foregroundMark x1="47632" y1="95370" x2="46100" y2="88889"/>
                        <a14:foregroundMark x1="46936" y1="10463" x2="41226" y2="9907"/>
                        <a14:backgroundMark x1="70613" y1="20000" x2="81616" y2="17778"/>
                        <a14:backgroundMark x1="81616" y1="17778" x2="84401" y2="17778"/>
                        <a14:backgroundMark x1="84958" y1="17778" x2="88022" y2="17130"/>
                        <a14:backgroundMark x1="84958" y1="17130" x2="85237" y2="17593"/>
                        <a14:backgroundMark x1="63649" y1="21852" x2="65738" y2="24444"/>
                        <a14:backgroundMark x1="72145" y1="16389" x2="83705" y2="13519"/>
                        <a14:backgroundMark x1="79805" y1="14907" x2="82451" y2="14907"/>
                        <a14:backgroundMark x1="69777" y1="20185" x2="71588" y2="19815"/>
                        <a14:backgroundMark x1="69081" y1="19630" x2="71866" y2="19630"/>
                        <a14:backgroundMark x1="11978" y1="45648" x2="14206" y2="45093"/>
                        <a14:backgroundMark x1="37187" y1="97130" x2="38440" y2="97130"/>
                        <a14:backgroundMark x1="38719" y1="97963" x2="40251" y2="97593"/>
                        <a14:backgroundMark x1="40251" y1="97593" x2="40251" y2="97593"/>
                        <a14:backgroundMark x1="40251" y1="97593" x2="33844" y2="97130"/>
                        <a14:backgroundMark x1="83426" y1="91759" x2="78552" y2="92500"/>
                        <a14:backgroundMark x1="86490" y1="17407" x2="91086" y2="169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9753"/>
            <a:ext cx="2934651" cy="441423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BFA738A-2A12-4F16-90E4-68CE05DF9F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990" b="97526" l="10000" r="90000">
                        <a14:foregroundMark x1="53608" y1="10103" x2="52784" y2="2784"/>
                        <a14:foregroundMark x1="52784" y1="2784" x2="39485" y2="8557"/>
                        <a14:foregroundMark x1="39485" y1="8557" x2="46186" y2="11134"/>
                        <a14:foregroundMark x1="46186" y1="11134" x2="53402" y2="11546"/>
                        <a14:foregroundMark x1="52577" y1="4433" x2="53196" y2="2990"/>
                        <a14:foregroundMark x1="49158" y1="94565" x2="49135" y2="95098"/>
                        <a14:foregroundMark x1="49381" y1="89278" x2="49245" y2="92504"/>
                        <a14:foregroundMark x1="46693" y1="96349" x2="43326" y2="95997"/>
                        <a14:foregroundMark x1="59796" y1="89662" x2="60309" y2="92784"/>
                        <a14:foregroundMark x1="59072" y1="85258" x2="59290" y2="86587"/>
                        <a14:foregroundMark x1="61384" y1="89235" x2="62371" y2="85979"/>
                        <a14:foregroundMark x1="60309" y1="92784" x2="61384" y2="89236"/>
                        <a14:foregroundMark x1="62371" y1="85979" x2="59897" y2="81443"/>
                        <a14:foregroundMark x1="45979" y1="97526" x2="44330" y2="97526"/>
                        <a14:backgroundMark x1="42371" y1="97526" x2="45155" y2="90825"/>
                        <a14:backgroundMark x1="45155" y1="90825" x2="44948" y2="88247"/>
                        <a14:backgroundMark x1="45361" y1="87526" x2="40722" y2="97423"/>
                        <a14:backgroundMark x1="44742" y1="86701" x2="45979" y2="88041"/>
                        <a14:backgroundMark x1="48763" y1="95361" x2="48351" y2="94948"/>
                        <a14:backgroundMark x1="48144" y1="97732" x2="49175" y2="95155"/>
                        <a14:backgroundMark x1="49175" y1="96598" x2="50825" y2="92887"/>
                        <a14:backgroundMark x1="49175" y1="95361" x2="47526" y2="98557"/>
                        <a14:backgroundMark x1="48969" y1="95155" x2="51237" y2="93711"/>
                        <a14:backgroundMark x1="50825" y1="93711" x2="48969" y2="94330"/>
                        <a14:backgroundMark x1="48969" y1="94330" x2="48969" y2="94330"/>
                        <a14:backgroundMark x1="58866" y1="86701" x2="59691" y2="896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328" y="0"/>
            <a:ext cx="3858491" cy="385849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D23D0F5-A2F9-41FC-9823-B503DB9BE6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39694" y1="35018" x2="43353" y2="31641"/>
                        <a14:foregroundMark x1="44465" y1="29889" x2="36296" y2="31296"/>
                        <a14:foregroundMark x1="39770" y1="35027" x2="40135" y2="35419"/>
                        <a14:foregroundMark x1="36296" y1="31296" x2="39678" y2="34928"/>
                        <a14:foregroundMark x1="42840" y1="31852" x2="44407" y2="33689"/>
                        <a14:backgroundMark x1="20370" y1="25833" x2="29877" y2="30463"/>
                        <a14:backgroundMark x1="29877" y1="30463" x2="42963" y2="41944"/>
                        <a14:backgroundMark x1="44708" y1="41494" x2="54815" y2="38889"/>
                        <a14:backgroundMark x1="42963" y1="41944" x2="44220" y2="41620"/>
                        <a14:backgroundMark x1="54815" y1="38889" x2="58765" y2="32407"/>
                        <a14:backgroundMark x1="58765" y1="32407" x2="60494" y2="42778"/>
                        <a14:backgroundMark x1="60494" y1="42778" x2="54444" y2="56574"/>
                        <a14:backgroundMark x1="54444" y1="56574" x2="69383" y2="32963"/>
                        <a14:backgroundMark x1="69383" y1="32963" x2="51481" y2="66111"/>
                        <a14:backgroundMark x1="51481" y1="66111" x2="27037" y2="76204"/>
                        <a14:backgroundMark x1="27037" y1="76204" x2="34198" y2="81111"/>
                        <a14:backgroundMark x1="34198" y1="81111" x2="43704" y2="78889"/>
                        <a14:backgroundMark x1="43704" y1="78889" x2="48889" y2="71852"/>
                        <a14:backgroundMark x1="48889" y1="71852" x2="46173" y2="61667"/>
                        <a14:backgroundMark x1="46173" y1="61667" x2="40988" y2="54074"/>
                        <a14:backgroundMark x1="40988" y1="54074" x2="32469" y2="48241"/>
                        <a14:backgroundMark x1="32469" y1="48241" x2="23457" y2="45463"/>
                        <a14:backgroundMark x1="23457" y1="45463" x2="19136" y2="51667"/>
                        <a14:backgroundMark x1="19136" y1="51667" x2="23210" y2="75185"/>
                        <a14:backgroundMark x1="23210" y1="75185" x2="21481" y2="90463"/>
                        <a14:backgroundMark x1="21728" y1="45000" x2="47901" y2="72778"/>
                        <a14:backgroundMark x1="47901" y1="72778" x2="5556" y2="44167"/>
                        <a14:backgroundMark x1="5556" y1="44167" x2="5432" y2="44167"/>
                        <a14:backgroundMark x1="19506" y1="67130" x2="16173" y2="86296"/>
                        <a14:backgroundMark x1="16173" y1="86296" x2="16173" y2="86296"/>
                        <a14:backgroundMark x1="65679" y1="56296" x2="72469" y2="62407"/>
                        <a14:backgroundMark x1="72469" y1="62407" x2="72840" y2="64815"/>
                        <a14:backgroundMark x1="71728" y1="40000" x2="73210" y2="23333"/>
                        <a14:backgroundMark x1="36173" y1="36296" x2="40617" y2="37500"/>
                        <a14:backgroundMark x1="77901" y1="30463" x2="45194" y2="31694"/>
                        <a14:backgroundMark x1="45137" y1="31627" x2="63457" y2="30185"/>
                        <a14:backgroundMark x1="35926" y1="36019" x2="38395" y2="36296"/>
                        <a14:backgroundMark x1="42593" y1="36019" x2="38148" y2="38333"/>
                        <a14:backgroundMark x1="49506" y1="31019" x2="43951" y2="41481"/>
                        <a14:backgroundMark x1="45432" y1="34167" x2="44321" y2="35648"/>
                        <a14:backgroundMark x1="45062" y1="33796" x2="44568" y2="35463"/>
                        <a14:backgroundMark x1="28889" y1="35556" x2="43086" y2="41759"/>
                        <a14:backgroundMark x1="51975" y1="34259" x2="46667" y2="41944"/>
                        <a14:backgroundMark x1="46049" y1="36389" x2="44938" y2="43704"/>
                        <a14:backgroundMark x1="44938" y1="43704" x2="44691" y2="43889"/>
                        <a14:backgroundMark x1="45062" y1="29537" x2="45679" y2="3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3129" y="406596"/>
            <a:ext cx="4924279" cy="656570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B76712A-6B3C-4256-934F-7E90BA04F09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33951" y1="35463" x2="43210" y2="36481"/>
                        <a14:foregroundMark x1="43210" y1="36481" x2="43210" y2="28611"/>
                        <a14:foregroundMark x1="43210" y1="28611" x2="40887" y2="24106"/>
                        <a14:foregroundMark x1="37191" y1="24106" x2="34074" y2="27222"/>
                        <a14:foregroundMark x1="34074" y1="27222" x2="33951" y2="30000"/>
                        <a14:backgroundMark x1="18765" y1="46667" x2="64321" y2="36574"/>
                        <a14:backgroundMark x1="64321" y1="36574" x2="4815" y2="58796"/>
                        <a14:backgroundMark x1="4815" y1="58796" x2="14568" y2="61296"/>
                        <a14:backgroundMark x1="14568" y1="61296" x2="87037" y2="39444"/>
                        <a14:backgroundMark x1="87037" y1="39444" x2="32593" y2="59444"/>
                        <a14:backgroundMark x1="32593" y1="59444" x2="44198" y2="60370"/>
                        <a14:backgroundMark x1="44198" y1="60370" x2="27407" y2="67500"/>
                        <a14:backgroundMark x1="27407" y1="67500" x2="60494" y2="63056"/>
                        <a14:backgroundMark x1="60494" y1="63056" x2="48642" y2="58704"/>
                        <a14:backgroundMark x1="48642" y1="58704" x2="27284" y2="63241"/>
                        <a14:backgroundMark x1="27284" y1="63241" x2="80741" y2="66389"/>
                        <a14:backgroundMark x1="80741" y1="66389" x2="96790" y2="64630"/>
                        <a14:backgroundMark x1="96790" y1="64630" x2="79877" y2="56296"/>
                        <a14:backgroundMark x1="79877" y1="56296" x2="48765" y2="61019"/>
                        <a14:backgroundMark x1="48765" y1="61019" x2="60123" y2="66759"/>
                        <a14:backgroundMark x1="60123" y1="66759" x2="75185" y2="68148"/>
                        <a14:backgroundMark x1="75185" y1="68148" x2="49259" y2="52222"/>
                        <a14:backgroundMark x1="49259" y1="52222" x2="78642" y2="64444"/>
                        <a14:backgroundMark x1="78642" y1="64444" x2="91975" y2="63056"/>
                        <a14:backgroundMark x1="91975" y1="63056" x2="59877" y2="48426"/>
                        <a14:backgroundMark x1="59877" y1="48426" x2="39630" y2="50556"/>
                        <a14:backgroundMark x1="39630" y1="50556" x2="36173" y2="51852"/>
                        <a14:backgroundMark x1="17654" y1="35463" x2="23704" y2="14630"/>
                        <a14:backgroundMark x1="25926" y1="19167" x2="20370" y2="25093"/>
                        <a14:backgroundMark x1="20370" y1="25093" x2="24321" y2="32222"/>
                        <a14:backgroundMark x1="24321" y1="32222" x2="32593" y2="37407"/>
                        <a14:backgroundMark x1="32593" y1="37407" x2="26790" y2="30926"/>
                        <a14:backgroundMark x1="26790" y1="30926" x2="24815" y2="22963"/>
                        <a14:backgroundMark x1="24815" y1="22963" x2="29753" y2="15278"/>
                        <a14:backgroundMark x1="29753" y1="15278" x2="37778" y2="11759"/>
                        <a14:backgroundMark x1="37778" y1="11759" x2="46543" y2="13519"/>
                        <a14:backgroundMark x1="48765" y1="26667" x2="48765" y2="39352"/>
                        <a14:backgroundMark x1="45556" y1="22778" x2="34074" y2="22778"/>
                        <a14:backgroundMark x1="34691" y1="22778" x2="29012" y2="23241"/>
                        <a14:backgroundMark x1="35309" y1="20370" x2="36667" y2="223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52744" y="1392468"/>
            <a:ext cx="2239186" cy="298558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E7AA4DF-343E-4D48-8474-94FB12B271E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43951" y1="41667" x2="45539" y2="42556"/>
                        <a14:foregroundMark x1="53967" y1="42068" x2="55926" y2="38611"/>
                        <a14:foregroundMark x1="55926" y1="38611" x2="51975" y2="32037"/>
                        <a14:foregroundMark x1="51975" y1="32037" x2="42963" y2="35185"/>
                        <a14:foregroundMark x1="42963" y1="35185" x2="42757" y2="37407"/>
                        <a14:foregroundMark x1="47037" y1="31296" x2="43704" y2="36852"/>
                        <a14:foregroundMark x1="47284" y1="32130" x2="43471" y2="34209"/>
                        <a14:foregroundMark x1="47284" y1="31667" x2="46543" y2="31667"/>
                        <a14:foregroundMark x1="52593" y1="31667" x2="53704" y2="32315"/>
                        <a14:foregroundMark x1="53951" y1="33796" x2="51481" y2="31667"/>
                        <a14:foregroundMark x1="51728" y1="31481" x2="52593" y2="31667"/>
                        <a14:foregroundMark x1="52593" y1="32130" x2="55679" y2="35000"/>
                        <a14:backgroundMark x1="11481" y1="23796" x2="24444" y2="50741"/>
                        <a14:backgroundMark x1="24444" y1="50741" x2="33827" y2="63889"/>
                        <a14:backgroundMark x1="33827" y1="63889" x2="46173" y2="66667"/>
                        <a14:backgroundMark x1="46173" y1="66667" x2="67901" y2="57870"/>
                        <a14:backgroundMark x1="67901" y1="57870" x2="74815" y2="50833"/>
                        <a14:backgroundMark x1="74815" y1="50833" x2="74568" y2="30185"/>
                        <a14:backgroundMark x1="62593" y1="35648" x2="54074" y2="50833"/>
                        <a14:backgroundMark x1="54074" y1="50833" x2="45309" y2="54074"/>
                        <a14:backgroundMark x1="45309" y1="54074" x2="35309" y2="51481"/>
                        <a14:backgroundMark x1="35309" y1="51481" x2="46420" y2="50185"/>
                        <a14:backgroundMark x1="46420" y1="50185" x2="56790" y2="45463"/>
                        <a14:backgroundMark x1="40370" y1="41667" x2="42140" y2="36356"/>
                        <a14:backgroundMark x1="45579" y1="30338" x2="49630" y2="26389"/>
                        <a14:backgroundMark x1="45195" y1="30712" x2="45490" y2="30425"/>
                        <a14:backgroundMark x1="43457" y1="32407" x2="44931" y2="30970"/>
                        <a14:backgroundMark x1="49630" y1="26389" x2="58889" y2="26296"/>
                        <a14:backgroundMark x1="58889" y1="26296" x2="58765" y2="43981"/>
                        <a14:backgroundMark x1="55679" y1="42685" x2="46543" y2="43981"/>
                        <a14:backgroundMark x1="46543" y1="43981" x2="38395" y2="41296"/>
                        <a14:backgroundMark x1="53086" y1="45463" x2="53951" y2="45000"/>
                        <a14:backgroundMark x1="53951" y1="45000" x2="53951" y2="45000"/>
                        <a14:backgroundMark x1="53951" y1="45000" x2="45926" y2="45463"/>
                        <a14:backgroundMark x1="52533" y1="30701" x2="52099" y2="30093"/>
                        <a14:backgroundMark x1="56790" y1="36667" x2="55621" y2="35029"/>
                        <a14:backgroundMark x1="52099" y1="30093" x2="48148" y2="29352"/>
                        <a14:backgroundMark x1="22840" y1="64167" x2="17037" y2="70185"/>
                        <a14:backgroundMark x1="17037" y1="70185" x2="26049" y2="63611"/>
                        <a14:backgroundMark x1="26049" y1="63611" x2="29259" y2="70833"/>
                        <a14:backgroundMark x1="29259" y1="70833" x2="24568" y2="64630"/>
                        <a14:backgroundMark x1="24568" y1="64630" x2="13457" y2="68796"/>
                        <a14:backgroundMark x1="13457" y1="68796" x2="21605" y2="74352"/>
                        <a14:backgroundMark x1="21605" y1="74352" x2="31852" y2="72963"/>
                        <a14:backgroundMark x1="31852" y1="72963" x2="23086" y2="68426"/>
                        <a14:backgroundMark x1="23086" y1="68426" x2="28765" y2="75185"/>
                        <a14:backgroundMark x1="28765" y1="75185" x2="33704" y2="68333"/>
                        <a14:backgroundMark x1="33704" y1="68333" x2="33086" y2="76667"/>
                        <a14:backgroundMark x1="33086" y1="76667" x2="37654" y2="70463"/>
                        <a14:backgroundMark x1="37654" y1="70463" x2="23086" y2="68241"/>
                        <a14:backgroundMark x1="23086" y1="68241" x2="27407" y2="76944"/>
                        <a14:backgroundMark x1="27407" y1="76944" x2="32716" y2="69537"/>
                        <a14:backgroundMark x1="32716" y1="69537" x2="24321" y2="65648"/>
                        <a14:backgroundMark x1="85679" y1="34352" x2="78642" y2="42870"/>
                        <a14:backgroundMark x1="78642" y1="42870" x2="76790" y2="52037"/>
                        <a14:backgroundMark x1="76790" y1="52037" x2="84815" y2="37222"/>
                        <a14:backgroundMark x1="84815" y1="37222" x2="84568" y2="29630"/>
                        <a14:backgroundMark x1="84568" y1="29630" x2="75679" y2="43148"/>
                        <a14:backgroundMark x1="75679" y1="43148" x2="77778" y2="52130"/>
                        <a14:backgroundMark x1="77778" y1="52130" x2="83457" y2="34167"/>
                        <a14:backgroundMark x1="83457" y1="34167" x2="78519" y2="28148"/>
                        <a14:backgroundMark x1="78519" y1="28148" x2="77037" y2="31296"/>
                        <a14:backgroundMark x1="42593" y1="42130" x2="43000" y2="36629"/>
                        <a14:backgroundMark x1="42840" y1="41852" x2="42840" y2="36578"/>
                        <a14:backgroundMark x1="41728" y1="44352" x2="42099" y2="37407"/>
                        <a14:backgroundMark x1="42099" y1="37407" x2="42099" y2="42130"/>
                        <a14:backgroundMark x1="56173" y1="43333" x2="52099" y2="43519"/>
                        <a14:backgroundMark x1="42840" y1="42315" x2="42099" y2="40833"/>
                        <a14:backgroundMark x1="43210" y1="41481" x2="43457" y2="41296"/>
                        <a14:backgroundMark x1="41481" y1="37685" x2="45679" y2="3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45303" y="-617183"/>
            <a:ext cx="2692796" cy="359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00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607C8C-623B-4291-8A36-B4A1A99AD45C}"/>
              </a:ext>
            </a:extLst>
          </p:cNvPr>
          <p:cNvSpPr txBox="1">
            <a:spLocks/>
          </p:cNvSpPr>
          <p:nvPr/>
        </p:nvSpPr>
        <p:spPr>
          <a:xfrm>
            <a:off x="-2" y="217714"/>
            <a:ext cx="12192000" cy="98473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6600" dirty="0">
                <a:solidFill>
                  <a:srgbClr val="FF6600"/>
                </a:solidFill>
                <a:latin typeface="Bahnschrift Condensed" panose="020B0502040204020203" pitchFamily="34" charset="0"/>
              </a:rPr>
              <a:t>ГИПОТЕЗА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313A498-2915-4642-A652-E3ECE5E81D17}"/>
              </a:ext>
            </a:extLst>
          </p:cNvPr>
          <p:cNvSpPr txBox="1">
            <a:spLocks/>
          </p:cNvSpPr>
          <p:nvPr/>
        </p:nvSpPr>
        <p:spPr>
          <a:xfrm>
            <a:off x="-2" y="2387600"/>
            <a:ext cx="12191999" cy="20828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ru-RU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С течением времени (с 1980 по 2009) плотность социальных связей женщин в комедийных фильмах растёт</a:t>
            </a:r>
          </a:p>
        </p:txBody>
      </p:sp>
    </p:spTree>
    <p:extLst>
      <p:ext uri="{BB962C8B-B14F-4D97-AF65-F5344CB8AC3E}">
        <p14:creationId xmlns:p14="http://schemas.microsoft.com/office/powerpoint/2010/main" val="2459903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52C563-387E-49CB-ABF0-B9E709B411AF}"/>
              </a:ext>
            </a:extLst>
          </p:cNvPr>
          <p:cNvSpPr txBox="1"/>
          <p:nvPr/>
        </p:nvSpPr>
        <p:spPr>
          <a:xfrm>
            <a:off x="702365" y="1137090"/>
            <a:ext cx="11489635" cy="4583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4000" dirty="0">
                <a:solidFill>
                  <a:srgbClr val="FF6600"/>
                </a:solidFill>
                <a:latin typeface="Bahnschrift Condensed" panose="020B0502040204020203" pitchFamily="34" charset="0"/>
              </a:rPr>
              <a:t>Что мы сделали сначала:</a:t>
            </a:r>
          </a:p>
          <a:p>
            <a:pPr>
              <a:lnSpc>
                <a:spcPct val="150000"/>
              </a:lnSpc>
            </a:pPr>
            <a:endParaRPr lang="ru-RU" sz="4000" dirty="0">
              <a:solidFill>
                <a:schemeClr val="accent6">
                  <a:lumMod val="50000"/>
                </a:schemeClr>
              </a:solidFill>
              <a:latin typeface="Bahnschrift Condensed" panose="020B0502040204020203" pitchFamily="34" charset="0"/>
            </a:endParaRPr>
          </a:p>
          <a:p>
            <a:pPr marL="360363" indent="-360363">
              <a:lnSpc>
                <a:spcPct val="150000"/>
              </a:lnSpc>
              <a:buFont typeface="+mj-lt"/>
              <a:buAutoNum type="arabicPeriod"/>
            </a:pPr>
            <a:r>
              <a:rPr lang="ru-RU" sz="40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выбрали по три фильма каждой декады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/>
            </a:pPr>
            <a:r>
              <a:rPr lang="ru-RU" sz="40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с сайта </a:t>
            </a:r>
            <a:r>
              <a:rPr lang="en-US" sz="40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moviegalaxies.com </a:t>
            </a:r>
            <a:r>
              <a:rPr lang="ru-RU" sz="40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взяли сети взаимодействий персонажей в </a:t>
            </a:r>
            <a:r>
              <a:rPr lang="fi-FI" sz="4000" dirty="0" err="1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json</a:t>
            </a:r>
            <a:endParaRPr lang="ru-RU" sz="4000" dirty="0">
              <a:solidFill>
                <a:schemeClr val="accent6">
                  <a:lumMod val="50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410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40E75B-BA0E-4DA3-A1E9-52597E8ACE38}"/>
              </a:ext>
            </a:extLst>
          </p:cNvPr>
          <p:cNvSpPr txBox="1"/>
          <p:nvPr/>
        </p:nvSpPr>
        <p:spPr>
          <a:xfrm>
            <a:off x="702365" y="1137090"/>
            <a:ext cx="11489635" cy="4583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4000" dirty="0">
                <a:solidFill>
                  <a:srgbClr val="FF6600"/>
                </a:solidFill>
                <a:latin typeface="Bahnschrift Condensed" panose="020B0502040204020203" pitchFamily="34" charset="0"/>
              </a:rPr>
              <a:t>Критерии отбора фильмов:</a:t>
            </a:r>
          </a:p>
          <a:p>
            <a:pPr>
              <a:lnSpc>
                <a:spcPct val="150000"/>
              </a:lnSpc>
            </a:pPr>
            <a:endParaRPr lang="en-US" sz="4000" dirty="0">
              <a:solidFill>
                <a:schemeClr val="accent6">
                  <a:lumMod val="50000"/>
                </a:schemeClr>
              </a:solidFill>
              <a:latin typeface="Bahnschrift Condensed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sz="40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более 20 персонажей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sz="40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женщины важны для сюжета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sz="40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много оценок на </a:t>
            </a:r>
            <a:r>
              <a:rPr lang="en-US" sz="40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imdb.com</a:t>
            </a:r>
          </a:p>
        </p:txBody>
      </p:sp>
    </p:spTree>
    <p:extLst>
      <p:ext uri="{BB962C8B-B14F-4D97-AF65-F5344CB8AC3E}">
        <p14:creationId xmlns:p14="http://schemas.microsoft.com/office/powerpoint/2010/main" val="502933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CB5C8B56-267A-481C-8388-87F4733DA7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000077"/>
              </p:ext>
            </p:extLst>
          </p:nvPr>
        </p:nvGraphicFramePr>
        <p:xfrm>
          <a:off x="0" y="2012922"/>
          <a:ext cx="12192000" cy="3010491"/>
        </p:xfrm>
        <a:graphic>
          <a:graphicData uri="http://schemas.openxmlformats.org/drawingml/2006/table">
            <a:tbl>
              <a:tblPr/>
              <a:tblGrid>
                <a:gridCol w="4064000">
                  <a:extLst>
                    <a:ext uri="{9D8B030D-6E8A-4147-A177-3AD203B41FA5}">
                      <a16:colId xmlns:a16="http://schemas.microsoft.com/office/drawing/2014/main" val="184123992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5506517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23151706"/>
                    </a:ext>
                  </a:extLst>
                </a:gridCol>
              </a:tblGrid>
              <a:tr h="581719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3200" u="none" dirty="0">
                          <a:solidFill>
                            <a:srgbClr val="FF6600"/>
                          </a:solidFill>
                          <a:effectLst/>
                          <a:latin typeface="Bahnschrift Condensed" panose="020B0502040204020203" pitchFamily="34" charset="0"/>
                        </a:rPr>
                        <a:t>1980-1989</a:t>
                      </a:r>
                    </a:p>
                  </a:txBody>
                  <a:tcPr marL="11697" marR="11697" marT="7798" marB="77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3200" u="none" dirty="0">
                          <a:solidFill>
                            <a:srgbClr val="FF6600"/>
                          </a:solidFill>
                          <a:effectLst/>
                          <a:latin typeface="Bahnschrift Condensed" panose="020B0502040204020203" pitchFamily="34" charset="0"/>
                        </a:rPr>
                        <a:t>1990-1999</a:t>
                      </a:r>
                    </a:p>
                  </a:txBody>
                  <a:tcPr marL="11697" marR="11697" marT="7798" marB="77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3200" u="none" dirty="0">
                          <a:solidFill>
                            <a:srgbClr val="FF6600"/>
                          </a:solidFill>
                          <a:effectLst/>
                          <a:latin typeface="Bahnschrift Condensed" panose="020B0502040204020203" pitchFamily="34" charset="0"/>
                        </a:rPr>
                        <a:t>2000-2009</a:t>
                      </a:r>
                    </a:p>
                  </a:txBody>
                  <a:tcPr marL="11697" marR="11697" marT="7798" marB="77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632588"/>
                  </a:ext>
                </a:extLst>
              </a:tr>
              <a:tr h="581719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an </a:t>
                      </a:r>
                      <a:r>
                        <a:rPr lang="en-US" sz="280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american</a:t>
                      </a:r>
                      <a:r>
                        <a:rPr lang="en-US" sz="2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 werewolf in </a:t>
                      </a:r>
                      <a:r>
                        <a:rPr lang="en-US" sz="280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london</a:t>
                      </a:r>
                      <a:r>
                        <a:rPr lang="en-US" sz="2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 (1981)</a:t>
                      </a:r>
                    </a:p>
                  </a:txBody>
                  <a:tcPr marL="11697" marR="11697" marT="7798" marB="77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groundhog day (1993)</a:t>
                      </a:r>
                    </a:p>
                  </a:txBody>
                  <a:tcPr marL="11697" marR="11697" marT="7798" marB="77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80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amelie</a:t>
                      </a:r>
                      <a:r>
                        <a:rPr lang="en-US" sz="2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 (2001)</a:t>
                      </a:r>
                    </a:p>
                  </a:txBody>
                  <a:tcPr marL="11697" marR="11697" marT="7798" marB="77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752635"/>
                  </a:ext>
                </a:extLst>
              </a:tr>
              <a:tr h="69070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fast times at </a:t>
                      </a:r>
                      <a:r>
                        <a:rPr lang="en-US" sz="280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ridgemont</a:t>
                      </a:r>
                      <a:r>
                        <a:rPr lang="en-US" sz="2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 high (1982)</a:t>
                      </a:r>
                    </a:p>
                  </a:txBody>
                  <a:tcPr marL="11697" marR="11697" marT="7798" marB="77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the mask (1994) </a:t>
                      </a:r>
                    </a:p>
                  </a:txBody>
                  <a:tcPr marL="11697" marR="11697" marT="7798" marB="77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superbad</a:t>
                      </a:r>
                      <a:r>
                        <a:rPr lang="en-US" sz="2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 (2007)</a:t>
                      </a:r>
                    </a:p>
                  </a:txBody>
                  <a:tcPr marL="11697" marR="11697" marT="7798" marB="77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6027748"/>
                  </a:ext>
                </a:extLst>
              </a:tr>
              <a:tr h="6907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ferris</a:t>
                      </a:r>
                      <a:r>
                        <a:rPr lang="en-US" sz="2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bueller’s</a:t>
                      </a:r>
                      <a:r>
                        <a:rPr lang="en-US" sz="2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 day off (1986)</a:t>
                      </a:r>
                    </a:p>
                  </a:txBody>
                  <a:tcPr marL="11697" marR="11697" marT="7798" marB="77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the </a:t>
                      </a:r>
                      <a:r>
                        <a:rPr lang="en-US" sz="280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truman</a:t>
                      </a:r>
                      <a:r>
                        <a:rPr lang="en-US" sz="2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 show (1998)</a:t>
                      </a:r>
                    </a:p>
                  </a:txBody>
                  <a:tcPr marL="11697" marR="11697" marT="7798" marB="77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Bahnschrift Condensed" panose="020B0502040204020203" pitchFamily="34" charset="0"/>
                        </a:rPr>
                        <a:t>500 days of summer (2009)</a:t>
                      </a:r>
                    </a:p>
                  </a:txBody>
                  <a:tcPr marL="11697" marR="11697" marT="7798" marB="77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186193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2B615-27DA-4D33-B32E-CF4F7DA0E682}"/>
              </a:ext>
            </a:extLst>
          </p:cNvPr>
          <p:cNvSpPr txBox="1"/>
          <p:nvPr/>
        </p:nvSpPr>
        <p:spPr>
          <a:xfrm>
            <a:off x="-1" y="0"/>
            <a:ext cx="121920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solidFill>
                  <a:srgbClr val="FF6600"/>
                </a:solidFill>
                <a:latin typeface="Bahnschrift Condensed" panose="020B0502040204020203" pitchFamily="34" charset="0"/>
              </a:rPr>
              <a:t>ВЫБОРКА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418333-D82F-47EA-8E01-0F6B38B9E6A7}"/>
              </a:ext>
            </a:extLst>
          </p:cNvPr>
          <p:cNvSpPr txBox="1"/>
          <p:nvPr/>
        </p:nvSpPr>
        <p:spPr>
          <a:xfrm>
            <a:off x="3604592" y="6396335"/>
            <a:ext cx="8587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гуглотаблица</a:t>
            </a:r>
            <a:endParaRPr lang="ru-RU" sz="2400" dirty="0">
              <a:solidFill>
                <a:schemeClr val="accent6">
                  <a:lumMod val="50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440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607C8C-623B-4291-8A36-B4A1A99AD45C}"/>
              </a:ext>
            </a:extLst>
          </p:cNvPr>
          <p:cNvSpPr txBox="1">
            <a:spLocks/>
          </p:cNvSpPr>
          <p:nvPr/>
        </p:nvSpPr>
        <p:spPr>
          <a:xfrm>
            <a:off x="-2" y="0"/>
            <a:ext cx="12192000" cy="6858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dirty="0">
                <a:solidFill>
                  <a:srgbClr val="FF6600"/>
                </a:solidFill>
                <a:latin typeface="Bahnschrift Condensed" panose="020B0502040204020203" pitchFamily="34" charset="0"/>
              </a:rPr>
              <a:t>Что мы сделали потом:</a:t>
            </a:r>
          </a:p>
          <a:p>
            <a:pPr algn="just"/>
            <a:endParaRPr lang="ru-RU" sz="4000" dirty="0">
              <a:solidFill>
                <a:srgbClr val="FF6600"/>
              </a:solidFill>
              <a:latin typeface="Bahnschrift Condensed" panose="020B0502040204020203" pitchFamily="34" charset="0"/>
            </a:endParaRPr>
          </a:p>
          <a:p>
            <a:pPr marL="742950" indent="-742950" algn="just">
              <a:lnSpc>
                <a:spcPct val="150000"/>
              </a:lnSpc>
              <a:buAutoNum type="arabicPeriod"/>
            </a:pPr>
            <a:r>
              <a:rPr lang="ru-RU" sz="36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конвертировали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json </a:t>
            </a:r>
            <a:r>
              <a:rPr lang="ru-RU" sz="36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в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csv</a:t>
            </a:r>
            <a:r>
              <a:rPr lang="ru-RU" sz="36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 и загрузили в </a:t>
            </a:r>
            <a:r>
              <a:rPr lang="fi-FI" sz="3600" dirty="0" err="1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gephi</a:t>
            </a:r>
            <a:endParaRPr lang="ru-RU" sz="3600" dirty="0">
              <a:solidFill>
                <a:schemeClr val="accent6">
                  <a:lumMod val="50000"/>
                </a:schemeClr>
              </a:solidFill>
              <a:latin typeface="Bahnschrift Condensed" panose="020B0502040204020203" pitchFamily="34" charset="0"/>
            </a:endParaRPr>
          </a:p>
          <a:p>
            <a:pPr marL="742950" indent="-742950" algn="just">
              <a:lnSpc>
                <a:spcPct val="150000"/>
              </a:lnSpc>
              <a:buAutoNum type="arabicPeriod"/>
            </a:pPr>
            <a:r>
              <a:rPr lang="ru-RU" sz="36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добавили параметр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gender</a:t>
            </a:r>
            <a:r>
              <a:rPr lang="ru-RU" sz="36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, приписали его всем* персонажам</a:t>
            </a:r>
          </a:p>
          <a:p>
            <a:pPr marL="742950" indent="-742950" algn="just">
              <a:lnSpc>
                <a:spcPct val="150000"/>
              </a:lnSpc>
              <a:buAutoNum type="arabicPeriod"/>
            </a:pPr>
            <a:r>
              <a:rPr lang="ru-RU" sz="36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построили граф взаимодействий, покрасив вершины и рёбра в соответствии с гендером персонажа</a:t>
            </a:r>
          </a:p>
          <a:p>
            <a:pPr marL="742950" indent="-742950" algn="just">
              <a:lnSpc>
                <a:spcPct val="150000"/>
              </a:lnSpc>
              <a:buAutoNum type="arabicPeriod"/>
            </a:pPr>
            <a:r>
              <a:rPr lang="ru-RU" sz="36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применили укладку «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Force Atlas</a:t>
            </a:r>
            <a:r>
              <a:rPr lang="ru-RU" sz="36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», чтобы вершины часто взаимодействующих персонажей притягивались и наоборот</a:t>
            </a:r>
          </a:p>
        </p:txBody>
      </p:sp>
    </p:spTree>
    <p:extLst>
      <p:ext uri="{BB962C8B-B14F-4D97-AF65-F5344CB8AC3E}">
        <p14:creationId xmlns:p14="http://schemas.microsoft.com/office/powerpoint/2010/main" val="4240468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08E299-0744-4545-BF3B-AC2E05BCFB15}"/>
              </a:ext>
            </a:extLst>
          </p:cNvPr>
          <p:cNvSpPr txBox="1"/>
          <p:nvPr/>
        </p:nvSpPr>
        <p:spPr>
          <a:xfrm>
            <a:off x="0" y="1168703"/>
            <a:ext cx="12191999" cy="39326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4400" dirty="0">
                <a:solidFill>
                  <a:srgbClr val="FF6600"/>
                </a:solidFill>
                <a:latin typeface="Bahnschrift Condensed" panose="020B0502040204020203" pitchFamily="34" charset="0"/>
              </a:rPr>
              <a:t>female</a:t>
            </a:r>
          </a:p>
          <a:p>
            <a:pPr algn="ctr">
              <a:lnSpc>
                <a:spcPct val="200000"/>
              </a:lnSpc>
            </a:pPr>
            <a:r>
              <a:rPr lang="en-US" sz="44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male</a:t>
            </a:r>
          </a:p>
          <a:p>
            <a:pPr algn="ctr">
              <a:lnSpc>
                <a:spcPct val="200000"/>
              </a:lnSpc>
            </a:pPr>
            <a:r>
              <a:rPr lang="en-US" sz="4400" dirty="0">
                <a:solidFill>
                  <a:srgbClr val="FF0066"/>
                </a:solidFill>
                <a:latin typeface="Bahnschrift Condensed" panose="020B0502040204020203" pitchFamily="34" charset="0"/>
              </a:rPr>
              <a:t>other</a:t>
            </a:r>
            <a:endParaRPr lang="ru-RU" sz="4400" dirty="0">
              <a:solidFill>
                <a:srgbClr val="FF0066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194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A86EC7-3473-43F2-AF4A-1F7567F6D0F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1099870" y="-94181"/>
            <a:ext cx="14259095" cy="73396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7D12B9-DE73-4E77-B5CB-55812B50091B}"/>
              </a:ext>
            </a:extLst>
          </p:cNvPr>
          <p:cNvSpPr txBox="1"/>
          <p:nvPr/>
        </p:nvSpPr>
        <p:spPr>
          <a:xfrm>
            <a:off x="1640314" y="4997013"/>
            <a:ext cx="2543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solidFill>
                  <a:srgbClr val="FF6600"/>
                </a:solidFill>
                <a:latin typeface="Bahnschrift Condensed" panose="020B0502040204020203" pitchFamily="34" charset="0"/>
              </a:rPr>
              <a:t>1980-1989</a:t>
            </a:r>
          </a:p>
        </p:txBody>
      </p:sp>
    </p:spTree>
    <p:extLst>
      <p:ext uri="{BB962C8B-B14F-4D97-AF65-F5344CB8AC3E}">
        <p14:creationId xmlns:p14="http://schemas.microsoft.com/office/powerpoint/2010/main" val="289760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929A2AA-5CA4-46A3-B91F-49F5E87E6E5E}"/>
              </a:ext>
            </a:extLst>
          </p:cNvPr>
          <p:cNvGrpSpPr/>
          <p:nvPr/>
        </p:nvGrpSpPr>
        <p:grpSpPr>
          <a:xfrm>
            <a:off x="540132" y="0"/>
            <a:ext cx="9615445" cy="6858000"/>
            <a:chOff x="-981090" y="0"/>
            <a:chExt cx="6304668" cy="4496663"/>
          </a:xfrm>
        </p:grpSpPr>
        <p:pic>
          <p:nvPicPr>
            <p:cNvPr id="1026" name="Picture 2" descr="https://psv4.userapi.com/c505536/u162757565/docs/d32/16a4c24ff26e/screenshot_125106.png?extra=fyzCgy7CFLL9lhK9SBs5On4VcpWiBJfYow6YCe8NnnRjqrSBwF2wOFkoWZHYd8bsrfvulyP6ahf_YBxbW5MbEqCOQjkSt19DUwmRDzLkNptJii5AT2FJ2-AlHihkrmYxcNmY4p3Zuvj-UISLZ5s">
              <a:extLst>
                <a:ext uri="{FF2B5EF4-FFF2-40B4-BE49-F238E27FC236}">
                  <a16:creationId xmlns:a16="http://schemas.microsoft.com/office/drawing/2014/main" id="{430F5D82-AC99-4714-8F7D-54837F76EB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91" t="4709" r="11667" b="415"/>
            <a:stretch/>
          </p:blipFill>
          <p:spPr bwMode="auto">
            <a:xfrm>
              <a:off x="0" y="0"/>
              <a:ext cx="5323578" cy="44966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F9CDC6C4-1636-488C-A600-784CB77516F5}"/>
                </a:ext>
              </a:extLst>
            </p:cNvPr>
            <p:cNvSpPr/>
            <p:nvPr/>
          </p:nvSpPr>
          <p:spPr>
            <a:xfrm>
              <a:off x="-981090" y="983936"/>
              <a:ext cx="2345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b"/>
              <a:r>
                <a:rPr lang="en-US" dirty="0">
                  <a:solidFill>
                    <a:srgbClr val="FF6600"/>
                  </a:solidFill>
                  <a:latin typeface="Bahnschrift Condensed" panose="020B0502040204020203" pitchFamily="34" charset="0"/>
                </a:rPr>
                <a:t>fast times at </a:t>
              </a:r>
              <a:r>
                <a:rPr lang="en-US" dirty="0" err="1">
                  <a:solidFill>
                    <a:srgbClr val="FF6600"/>
                  </a:solidFill>
                  <a:latin typeface="Bahnschrift Condensed" panose="020B0502040204020203" pitchFamily="34" charset="0"/>
                </a:rPr>
                <a:t>ridgemont</a:t>
              </a:r>
              <a:r>
                <a:rPr lang="en-US" dirty="0">
                  <a:solidFill>
                    <a:srgbClr val="FF6600"/>
                  </a:solidFill>
                  <a:latin typeface="Bahnschrift Condensed" panose="020B0502040204020203" pitchFamily="34" charset="0"/>
                </a:rPr>
                <a:t> high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7884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98D25ECF-E4DC-4EB0-90E7-920C826CC496}"/>
              </a:ext>
            </a:extLst>
          </p:cNvPr>
          <p:cNvGrpSpPr/>
          <p:nvPr/>
        </p:nvGrpSpPr>
        <p:grpSpPr>
          <a:xfrm>
            <a:off x="2514600" y="176297"/>
            <a:ext cx="10266220" cy="6750978"/>
            <a:chOff x="5777346" y="44725"/>
            <a:chExt cx="5327001" cy="3502990"/>
          </a:xfrm>
        </p:grpSpPr>
        <p:pic>
          <p:nvPicPr>
            <p:cNvPr id="3" name="Picture 4" descr="https://vk.com/doc162757565_595242261?hash=2aa26e527d6b474e3d&amp;dl=19c29d6b50cde2b547&amp;wnd=1">
              <a:extLst>
                <a:ext uri="{FF2B5EF4-FFF2-40B4-BE49-F238E27FC236}">
                  <a16:creationId xmlns:a16="http://schemas.microsoft.com/office/drawing/2014/main" id="{8F084D13-8704-418D-90EC-593674FFC7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92" t="4040" r="7120" b="3233"/>
            <a:stretch/>
          </p:blipFill>
          <p:spPr bwMode="auto">
            <a:xfrm>
              <a:off x="5777346" y="44725"/>
              <a:ext cx="3716679" cy="35029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CD8451DD-3C95-4815-B51C-ED5BC6F54212}"/>
                </a:ext>
              </a:extLst>
            </p:cNvPr>
            <p:cNvSpPr/>
            <p:nvPr/>
          </p:nvSpPr>
          <p:spPr>
            <a:xfrm>
              <a:off x="8499147" y="44725"/>
              <a:ext cx="260520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b"/>
              <a:r>
                <a:rPr lang="en-US" dirty="0">
                  <a:solidFill>
                    <a:srgbClr val="FF6600"/>
                  </a:solidFill>
                  <a:latin typeface="Bahnschrift Condensed" panose="020B0502040204020203" pitchFamily="34" charset="0"/>
                </a:rPr>
                <a:t>an </a:t>
              </a:r>
              <a:r>
                <a:rPr lang="en-US" dirty="0" err="1">
                  <a:solidFill>
                    <a:srgbClr val="FF6600"/>
                  </a:solidFill>
                  <a:latin typeface="Bahnschrift Condensed" panose="020B0502040204020203" pitchFamily="34" charset="0"/>
                </a:rPr>
                <a:t>american</a:t>
              </a:r>
              <a:r>
                <a:rPr lang="en-US" dirty="0">
                  <a:solidFill>
                    <a:srgbClr val="FF6600"/>
                  </a:solidFill>
                  <a:latin typeface="Bahnschrift Condensed" panose="020B0502040204020203" pitchFamily="34" charset="0"/>
                </a:rPr>
                <a:t> werewolf in </a:t>
              </a:r>
              <a:r>
                <a:rPr lang="en-US" dirty="0" err="1">
                  <a:solidFill>
                    <a:srgbClr val="FF6600"/>
                  </a:solidFill>
                  <a:latin typeface="Bahnschrift Condensed" panose="020B0502040204020203" pitchFamily="34" charset="0"/>
                </a:rPr>
                <a:t>london</a:t>
              </a:r>
              <a:endParaRPr lang="en-US" dirty="0">
                <a:solidFill>
                  <a:srgbClr val="FF6600"/>
                </a:solidFill>
                <a:latin typeface="Bahnschrift Condensed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5290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67A1806-D081-4BCA-BC80-9532A6A6FCE9}"/>
              </a:ext>
            </a:extLst>
          </p:cNvPr>
          <p:cNvGrpSpPr/>
          <p:nvPr/>
        </p:nvGrpSpPr>
        <p:grpSpPr>
          <a:xfrm>
            <a:off x="1034365" y="228600"/>
            <a:ext cx="9893082" cy="6312217"/>
            <a:chOff x="5367132" y="2577549"/>
            <a:chExt cx="6732104" cy="4214191"/>
          </a:xfrm>
        </p:grpSpPr>
        <p:pic>
          <p:nvPicPr>
            <p:cNvPr id="3" name="Picture 4" descr="https://psv4.userapi.com/c536236/u162757565/docs/d29/01a8f056563a/ferris.png?extra=Noix-JlUcuojcPTIbqqIwv9mCNZn3l3didFv2iqoWPRMhOon4qu5SICUVQVt0ruk3HBtZM209d8uc8hakgGyZ4C1hU1Ld4xBRzFpOE8Q9mxVvzWfQr0y50ql2RrAC_k9hgu5VY8GLWDDHM7FIhA">
              <a:extLst>
                <a:ext uri="{FF2B5EF4-FFF2-40B4-BE49-F238E27FC236}">
                  <a16:creationId xmlns:a16="http://schemas.microsoft.com/office/drawing/2014/main" id="{FEA66C07-3A2F-4C96-A23F-6C7301B37D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22" t="15652" r="9855" b="22899"/>
            <a:stretch/>
          </p:blipFill>
          <p:spPr bwMode="auto">
            <a:xfrm>
              <a:off x="5367132" y="2577549"/>
              <a:ext cx="6732104" cy="42141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A501E82E-450E-4781-8CF0-6528601B0F28}"/>
                </a:ext>
              </a:extLst>
            </p:cNvPr>
            <p:cNvSpPr/>
            <p:nvPr/>
          </p:nvSpPr>
          <p:spPr>
            <a:xfrm>
              <a:off x="10535045" y="6422408"/>
              <a:ext cx="1255753" cy="2465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b"/>
              <a:r>
                <a:rPr lang="en-US" dirty="0" err="1">
                  <a:solidFill>
                    <a:srgbClr val="FF6600"/>
                  </a:solidFill>
                  <a:latin typeface="Bahnschrift Condensed" panose="020B0502040204020203" pitchFamily="34" charset="0"/>
                </a:rPr>
                <a:t>ferris</a:t>
              </a:r>
              <a:r>
                <a:rPr lang="en-US" dirty="0">
                  <a:solidFill>
                    <a:srgbClr val="FF6600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en-US" dirty="0" err="1">
                  <a:solidFill>
                    <a:srgbClr val="FF6600"/>
                  </a:solidFill>
                  <a:latin typeface="Bahnschrift Condensed" panose="020B0502040204020203" pitchFamily="34" charset="0"/>
                </a:rPr>
                <a:t>bueller's</a:t>
              </a:r>
              <a:r>
                <a:rPr lang="en-US" dirty="0">
                  <a:solidFill>
                    <a:srgbClr val="FF6600"/>
                  </a:solidFill>
                  <a:latin typeface="Bahnschrift Condensed" panose="020B0502040204020203" pitchFamily="34" charset="0"/>
                </a:rPr>
                <a:t> day off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0420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7D12B9-DE73-4E77-B5CB-55812B50091B}"/>
              </a:ext>
            </a:extLst>
          </p:cNvPr>
          <p:cNvSpPr txBox="1"/>
          <p:nvPr/>
        </p:nvSpPr>
        <p:spPr>
          <a:xfrm>
            <a:off x="1640314" y="4997013"/>
            <a:ext cx="2543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solidFill>
                  <a:srgbClr val="FF6600"/>
                </a:solidFill>
                <a:latin typeface="Bahnschrift Condensed" panose="020B0502040204020203" pitchFamily="34" charset="0"/>
              </a:rPr>
              <a:t>19</a:t>
            </a:r>
            <a:r>
              <a:rPr lang="en-US" sz="5400" dirty="0">
                <a:solidFill>
                  <a:srgbClr val="FF6600"/>
                </a:solidFill>
                <a:latin typeface="Bahnschrift Condensed" panose="020B0502040204020203" pitchFamily="34" charset="0"/>
              </a:rPr>
              <a:t>0</a:t>
            </a:r>
            <a:r>
              <a:rPr lang="ru-RU" sz="5400" dirty="0">
                <a:solidFill>
                  <a:srgbClr val="FF6600"/>
                </a:solidFill>
                <a:latin typeface="Bahnschrift Condensed" panose="020B0502040204020203" pitchFamily="34" charset="0"/>
              </a:rPr>
              <a:t>0-19</a:t>
            </a:r>
            <a:r>
              <a:rPr lang="en-US" sz="5400" dirty="0">
                <a:solidFill>
                  <a:srgbClr val="FF6600"/>
                </a:solidFill>
                <a:latin typeface="Bahnschrift Condensed" panose="020B0502040204020203" pitchFamily="34" charset="0"/>
              </a:rPr>
              <a:t>99</a:t>
            </a:r>
            <a:endParaRPr lang="ru-RU" sz="5400" dirty="0">
              <a:solidFill>
                <a:srgbClr val="FF6600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848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A05ECE11-4D61-4045-9D2D-CBB86C29A3D4}"/>
              </a:ext>
            </a:extLst>
          </p:cNvPr>
          <p:cNvGrpSpPr/>
          <p:nvPr/>
        </p:nvGrpSpPr>
        <p:grpSpPr>
          <a:xfrm>
            <a:off x="1129445" y="161570"/>
            <a:ext cx="8686201" cy="6534859"/>
            <a:chOff x="-920838" y="2057770"/>
            <a:chExt cx="6380515" cy="4800230"/>
          </a:xfrm>
        </p:grpSpPr>
        <p:grpSp>
          <p:nvGrpSpPr>
            <p:cNvPr id="2" name="Группа 1">
              <a:extLst>
                <a:ext uri="{FF2B5EF4-FFF2-40B4-BE49-F238E27FC236}">
                  <a16:creationId xmlns:a16="http://schemas.microsoft.com/office/drawing/2014/main" id="{947B6E14-6D28-4123-B7C3-4D895C48B276}"/>
                </a:ext>
              </a:extLst>
            </p:cNvPr>
            <p:cNvGrpSpPr/>
            <p:nvPr/>
          </p:nvGrpSpPr>
          <p:grpSpPr>
            <a:xfrm>
              <a:off x="-920838" y="2057770"/>
              <a:ext cx="6213274" cy="4800230"/>
              <a:chOff x="-920838" y="2057770"/>
              <a:chExt cx="6213274" cy="4800230"/>
            </a:xfrm>
          </p:grpSpPr>
          <p:pic>
            <p:nvPicPr>
              <p:cNvPr id="2050" name="Picture 2" descr="https://vk.com/doc162757565_595242251?hash=f2897c63370c11381b&amp;dl=8da6fb0c9468a9e284&amp;wnd=1">
                <a:extLst>
                  <a:ext uri="{FF2B5EF4-FFF2-40B4-BE49-F238E27FC236}">
                    <a16:creationId xmlns:a16="http://schemas.microsoft.com/office/drawing/2014/main" id="{C66CD40F-DD89-4EFD-91D8-F8F1552D51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121" t="505" r="5607"/>
              <a:stretch/>
            </p:blipFill>
            <p:spPr bwMode="auto">
              <a:xfrm>
                <a:off x="0" y="2057770"/>
                <a:ext cx="5292436" cy="48002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3AED97EC-057B-4724-ABCA-41EFDC9BF61E}"/>
                  </a:ext>
                </a:extLst>
              </p:cNvPr>
              <p:cNvSpPr/>
              <p:nvPr/>
            </p:nvSpPr>
            <p:spPr>
              <a:xfrm>
                <a:off x="-920838" y="6488668"/>
                <a:ext cx="13067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"/>
                <a:r>
                  <a:rPr lang="en-US" dirty="0">
                    <a:solidFill>
                      <a:srgbClr val="FF6600"/>
                    </a:solidFill>
                    <a:latin typeface="Bahnschrift Condensed" panose="020B0502040204020203" pitchFamily="34" charset="0"/>
                  </a:rPr>
                  <a:t>groundhog day</a:t>
                </a:r>
              </a:p>
            </p:txBody>
          </p:sp>
        </p:grp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CCB55E45-BFE8-434D-9C9B-10BDCF41030E}"/>
                </a:ext>
              </a:extLst>
            </p:cNvPr>
            <p:cNvSpPr/>
            <p:nvPr/>
          </p:nvSpPr>
          <p:spPr>
            <a:xfrm>
              <a:off x="3671455" y="3602182"/>
              <a:ext cx="1788222" cy="6077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879754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92F7006-94FF-4AC4-93D2-A6770562F60F}"/>
              </a:ext>
            </a:extLst>
          </p:cNvPr>
          <p:cNvGrpSpPr/>
          <p:nvPr/>
        </p:nvGrpSpPr>
        <p:grpSpPr>
          <a:xfrm>
            <a:off x="1919708" y="37751"/>
            <a:ext cx="9242864" cy="6782497"/>
            <a:chOff x="4294008" y="3444721"/>
            <a:chExt cx="4569986" cy="3353497"/>
          </a:xfrm>
        </p:grpSpPr>
        <p:pic>
          <p:nvPicPr>
            <p:cNvPr id="3" name="Picture 6" descr="https://psv4.userapi.com/c534536/u162757565/docs/d45/32d27af78432/mask.png?extra=yYiL_FuaRu0pZ__rQne-3xrICDd5JzLj0kHGzdHCp7fFKNEzQXjLtVKb7dIymbadflcXoiCmrx8E6gBH5_wT4lMQT0ENmdhmtqP9OZTNR46CsR2a7aj5ZQ8YD0WaBMANe3J162RTOfX_AqxxGbM">
              <a:extLst>
                <a:ext uri="{FF2B5EF4-FFF2-40B4-BE49-F238E27FC236}">
                  <a16:creationId xmlns:a16="http://schemas.microsoft.com/office/drawing/2014/main" id="{10A6C7E1-E8A3-4C43-9E68-1CE3420D38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24" t="1818" b="8777"/>
            <a:stretch/>
          </p:blipFill>
          <p:spPr bwMode="auto">
            <a:xfrm>
              <a:off x="4294008" y="3444721"/>
              <a:ext cx="4129801" cy="3353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39E3FC4F-19AC-471A-9275-A2992F61FE98}"/>
                </a:ext>
              </a:extLst>
            </p:cNvPr>
            <p:cNvSpPr/>
            <p:nvPr/>
          </p:nvSpPr>
          <p:spPr>
            <a:xfrm>
              <a:off x="7983624" y="3586906"/>
              <a:ext cx="88037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b"/>
              <a:r>
                <a:rPr lang="en-US" dirty="0">
                  <a:solidFill>
                    <a:srgbClr val="FF6600"/>
                  </a:solidFill>
                  <a:latin typeface="Bahnschrift Condensed" panose="020B0502040204020203" pitchFamily="34" charset="0"/>
                </a:rPr>
                <a:t>the mask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6229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70D19B7-EA45-4674-8EB0-35DF7A3BADD2}"/>
              </a:ext>
            </a:extLst>
          </p:cNvPr>
          <p:cNvGrpSpPr/>
          <p:nvPr/>
        </p:nvGrpSpPr>
        <p:grpSpPr>
          <a:xfrm rot="10800000">
            <a:off x="3168274" y="143142"/>
            <a:ext cx="5855452" cy="6867257"/>
            <a:chOff x="7714641" y="0"/>
            <a:chExt cx="4335951" cy="5085191"/>
          </a:xfrm>
        </p:grpSpPr>
        <p:pic>
          <p:nvPicPr>
            <p:cNvPr id="3" name="Picture 4" descr="https://vk.com/doc162757565_595242260?hash=dce6234f2ebbe43a30&amp;dl=9bb9339c77c4a343de&amp;wnd=1">
              <a:extLst>
                <a:ext uri="{FF2B5EF4-FFF2-40B4-BE49-F238E27FC236}">
                  <a16:creationId xmlns:a16="http://schemas.microsoft.com/office/drawing/2014/main" id="{B8E57383-1EBC-43C4-978A-9FD0ECA9DA7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40" r="24316"/>
            <a:stretch/>
          </p:blipFill>
          <p:spPr bwMode="auto">
            <a:xfrm rot="10800000">
              <a:off x="7714641" y="0"/>
              <a:ext cx="4335951" cy="50851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0D5E3F49-68C5-42F4-8A4E-DBBEE978FA9B}"/>
                </a:ext>
              </a:extLst>
            </p:cNvPr>
            <p:cNvSpPr/>
            <p:nvPr/>
          </p:nvSpPr>
          <p:spPr>
            <a:xfrm rot="10800000">
              <a:off x="10589935" y="1242393"/>
              <a:ext cx="146065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b"/>
              <a:r>
                <a:rPr lang="en-US" dirty="0">
                  <a:solidFill>
                    <a:srgbClr val="FF6600"/>
                  </a:solidFill>
                  <a:latin typeface="Bahnschrift Condensed" panose="020B0502040204020203" pitchFamily="34" charset="0"/>
                </a:rPr>
                <a:t>the </a:t>
              </a:r>
              <a:r>
                <a:rPr lang="en-US" dirty="0" err="1">
                  <a:solidFill>
                    <a:srgbClr val="FF6600"/>
                  </a:solidFill>
                  <a:latin typeface="Bahnschrift Condensed" panose="020B0502040204020203" pitchFamily="34" charset="0"/>
                </a:rPr>
                <a:t>truman</a:t>
              </a:r>
              <a:r>
                <a:rPr lang="en-US" dirty="0">
                  <a:solidFill>
                    <a:srgbClr val="FF6600"/>
                  </a:solidFill>
                  <a:latin typeface="Bahnschrift Condensed" panose="020B0502040204020203" pitchFamily="34" charset="0"/>
                </a:rPr>
                <a:t> show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4084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7D12B9-DE73-4E77-B5CB-55812B50091B}"/>
              </a:ext>
            </a:extLst>
          </p:cNvPr>
          <p:cNvSpPr txBox="1"/>
          <p:nvPr/>
        </p:nvSpPr>
        <p:spPr>
          <a:xfrm>
            <a:off x="1640314" y="4997013"/>
            <a:ext cx="27100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solidFill>
                  <a:srgbClr val="FF6600"/>
                </a:solidFill>
                <a:latin typeface="Bahnschrift Condensed" panose="020B0502040204020203" pitchFamily="34" charset="0"/>
              </a:rPr>
              <a:t>20</a:t>
            </a:r>
            <a:r>
              <a:rPr lang="en-US" sz="5400" dirty="0">
                <a:solidFill>
                  <a:srgbClr val="FF6600"/>
                </a:solidFill>
                <a:latin typeface="Bahnschrift Condensed" panose="020B0502040204020203" pitchFamily="34" charset="0"/>
              </a:rPr>
              <a:t>0</a:t>
            </a:r>
            <a:r>
              <a:rPr lang="ru-RU" sz="5400" dirty="0">
                <a:solidFill>
                  <a:srgbClr val="FF6600"/>
                </a:solidFill>
                <a:latin typeface="Bahnschrift Condensed" panose="020B0502040204020203" pitchFamily="34" charset="0"/>
              </a:rPr>
              <a:t>0-200</a:t>
            </a:r>
            <a:r>
              <a:rPr lang="en-US" sz="5400" dirty="0">
                <a:solidFill>
                  <a:srgbClr val="FF6600"/>
                </a:solidFill>
                <a:latin typeface="Bahnschrift Condensed" panose="020B0502040204020203" pitchFamily="34" charset="0"/>
              </a:rPr>
              <a:t>9</a:t>
            </a:r>
            <a:endParaRPr lang="ru-RU" sz="5400" dirty="0">
              <a:solidFill>
                <a:srgbClr val="FF6600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745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9C3C76F-C2AF-4158-9662-99AA3B59FFCB}"/>
              </a:ext>
            </a:extLst>
          </p:cNvPr>
          <p:cNvGrpSpPr/>
          <p:nvPr/>
        </p:nvGrpSpPr>
        <p:grpSpPr>
          <a:xfrm>
            <a:off x="532860" y="24280"/>
            <a:ext cx="9346626" cy="6809440"/>
            <a:chOff x="1920746" y="3106574"/>
            <a:chExt cx="5082548" cy="3702866"/>
          </a:xfrm>
        </p:grpSpPr>
        <p:pic>
          <p:nvPicPr>
            <p:cNvPr id="3" name="Picture 6" descr="https://psv4.userapi.com/c532036/u269206518/docs/d5/c6261d3328d9/screenshot_200451.png?extra=m_Y6KVAVdzvtITxx0fDWydRmtUCrvMiz3H0aPJKza1j1Q6jdHe8mE5JE2T9ZYG_XhirMGWltNZ09z6OTkd72J-bNvo5ahtd3wahGF9o6Tx4e0shavOJr4puhCVCft0S2Yxti4cbE-e4aPzhtOD4">
              <a:extLst>
                <a:ext uri="{FF2B5EF4-FFF2-40B4-BE49-F238E27FC236}">
                  <a16:creationId xmlns:a16="http://schemas.microsoft.com/office/drawing/2014/main" id="{8B6AD95D-E485-4B33-9C22-0CD687DAF3B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15" t="3232" r="12273" b="5324"/>
            <a:stretch/>
          </p:blipFill>
          <p:spPr bwMode="auto">
            <a:xfrm>
              <a:off x="2888494" y="3106574"/>
              <a:ext cx="4114800" cy="37028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17D778AD-142F-43E5-8BBA-25410B9F91D4}"/>
                </a:ext>
              </a:extLst>
            </p:cNvPr>
            <p:cNvSpPr/>
            <p:nvPr/>
          </p:nvSpPr>
          <p:spPr>
            <a:xfrm>
              <a:off x="1920746" y="3163351"/>
              <a:ext cx="7024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b"/>
              <a:r>
                <a:rPr lang="en-US" dirty="0" err="1">
                  <a:solidFill>
                    <a:srgbClr val="FF6600"/>
                  </a:solidFill>
                  <a:latin typeface="Bahnschrift Condensed" panose="020B0502040204020203" pitchFamily="34" charset="0"/>
                </a:rPr>
                <a:t>amelie</a:t>
              </a:r>
              <a:endParaRPr lang="en-US" dirty="0">
                <a:solidFill>
                  <a:srgbClr val="FF6600"/>
                </a:solidFill>
                <a:latin typeface="Bahnschrift Condensed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4401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psv4.userapi.com/c532036/u162757565/docs/d14/b1c31a96c4da/superbad.png?extra=CE8SFAvgfd--IiFuvJ9hsk4ulHBOidNfcMrwQlvu_nYDIa1rEDkCVtNrk7EjfQgR7hWGFqKSFXuDLTtSGYzby7fEQBqU4eVxpwNBnVCoMELi02QbLb-3_OrMhBcooh4C5OsshWsTs8eUeoHVbt0">
            <a:extLst>
              <a:ext uri="{FF2B5EF4-FFF2-40B4-BE49-F238E27FC236}">
                <a16:creationId xmlns:a16="http://schemas.microsoft.com/office/drawing/2014/main" id="{5D5935C8-A323-4804-A742-695165187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CB50F26-6C94-4CB7-8AF9-F9E5D9BF5EC1}"/>
              </a:ext>
            </a:extLst>
          </p:cNvPr>
          <p:cNvSpPr/>
          <p:nvPr/>
        </p:nvSpPr>
        <p:spPr>
          <a:xfrm>
            <a:off x="729735" y="128691"/>
            <a:ext cx="8980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n-US" dirty="0" err="1">
                <a:solidFill>
                  <a:srgbClr val="FF6600"/>
                </a:solidFill>
                <a:latin typeface="Bahnschrift Condensed" panose="020B0502040204020203" pitchFamily="34" charset="0"/>
              </a:rPr>
              <a:t>superbad</a:t>
            </a:r>
            <a:endParaRPr lang="en-US" dirty="0">
              <a:solidFill>
                <a:srgbClr val="FF6600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655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AE7E17B-EDFC-4FB5-B513-769202388B41}"/>
              </a:ext>
            </a:extLst>
          </p:cNvPr>
          <p:cNvGrpSpPr/>
          <p:nvPr/>
        </p:nvGrpSpPr>
        <p:grpSpPr>
          <a:xfrm>
            <a:off x="-1" y="57087"/>
            <a:ext cx="10701860" cy="6752422"/>
            <a:chOff x="-1402159" y="0"/>
            <a:chExt cx="5215016" cy="3290455"/>
          </a:xfrm>
        </p:grpSpPr>
        <p:pic>
          <p:nvPicPr>
            <p:cNvPr id="3076" name="Picture 4" descr="https://vk.com/doc162757565_595245324?hash=2047db57c2e20cb4a6&amp;dl=44ba2753a7891f9c96&amp;wnd=1">
              <a:extLst>
                <a:ext uri="{FF2B5EF4-FFF2-40B4-BE49-F238E27FC236}">
                  <a16:creationId xmlns:a16="http://schemas.microsoft.com/office/drawing/2014/main" id="{68A2BB40-CCB7-46E6-A22E-3CA6380D753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0" r="14849"/>
            <a:stretch/>
          </p:blipFill>
          <p:spPr bwMode="auto">
            <a:xfrm>
              <a:off x="0" y="0"/>
              <a:ext cx="3812857" cy="32904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39736A67-37F1-4049-A3CA-DA857FEC69F5}"/>
                </a:ext>
              </a:extLst>
            </p:cNvPr>
            <p:cNvSpPr/>
            <p:nvPr/>
          </p:nvSpPr>
          <p:spPr>
            <a:xfrm>
              <a:off x="-1402159" y="117334"/>
              <a:ext cx="170431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b"/>
              <a:r>
                <a:rPr lang="en-US" dirty="0">
                  <a:solidFill>
                    <a:srgbClr val="FF6600"/>
                  </a:solidFill>
                  <a:latin typeface="Bahnschrift Condensed" panose="020B0502040204020203" pitchFamily="34" charset="0"/>
                </a:rPr>
                <a:t>500 days of summer</a:t>
              </a:r>
            </a:p>
          </p:txBody>
        </p:sp>
      </p:grpSp>
      <p:pic>
        <p:nvPicPr>
          <p:cNvPr id="10" name="Picture 8" descr="https://psv4.userapi.com/c536132/u162757565/docs/d34/79559ba5f009/summer.png?extra=BMzEGPVuXEWrAfuSq7wnLMosFwtDUSBte0i8tfD8Js4VuXMfsjFlvfI1wz96ylEA1uZi8ifpcTAxHUq8yX3EgvI0x-tnPLyK_TPvfcswZb_8BU3JAFCoDTuyya5Soh__iVAxB1PiiFDylN2WAf0">
            <a:extLst>
              <a:ext uri="{FF2B5EF4-FFF2-40B4-BE49-F238E27FC236}">
                <a16:creationId xmlns:a16="http://schemas.microsoft.com/office/drawing/2014/main" id="{0FDE15CD-5668-4ED7-BF4E-A96F39E3B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177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7293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710FE1-28FC-43EB-A076-485AAD0883E7}"/>
              </a:ext>
            </a:extLst>
          </p:cNvPr>
          <p:cNvSpPr txBox="1"/>
          <p:nvPr/>
        </p:nvSpPr>
        <p:spPr>
          <a:xfrm>
            <a:off x="1184564" y="2365760"/>
            <a:ext cx="9822872" cy="2126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ru-RU" sz="3600" dirty="0">
                <a:solidFill>
                  <a:srgbClr val="FF6600"/>
                </a:solidFill>
                <a:latin typeface="Bahnschrift Condensed" panose="020B0502040204020203" pitchFamily="34" charset="0"/>
              </a:rPr>
              <a:t>Здесь должна была быть декада 2010-2019, но на </a:t>
            </a:r>
            <a:r>
              <a:rPr lang="en-US" sz="3600" dirty="0">
                <a:solidFill>
                  <a:srgbClr val="FF6600"/>
                </a:solidFill>
                <a:latin typeface="Bahnschrift Condensed" panose="020B0502040204020203" pitchFamily="34" charset="0"/>
              </a:rPr>
              <a:t>moviegalaxies.com </a:t>
            </a:r>
            <a:r>
              <a:rPr lang="ru-RU" sz="3600" dirty="0">
                <a:solidFill>
                  <a:srgbClr val="FF6600"/>
                </a:solidFill>
                <a:latin typeface="Bahnschrift Condensed" panose="020B0502040204020203" pitchFamily="34" charset="0"/>
              </a:rPr>
              <a:t>почти нет фильмов за этот период </a:t>
            </a:r>
            <a:r>
              <a:rPr lang="ru-RU" sz="3600" dirty="0">
                <a:solidFill>
                  <a:srgbClr val="FF6600"/>
                </a:solidFill>
                <a:latin typeface="Bahnschrift Condensed" panose="020B0502040204020203" pitchFamily="34" charset="0"/>
                <a:sym typeface="Wingdings" panose="05000000000000000000" pitchFamily="2" charset="2"/>
              </a:rPr>
              <a:t>:</a:t>
            </a:r>
            <a:r>
              <a:rPr lang="en-US" sz="3600" dirty="0">
                <a:solidFill>
                  <a:srgbClr val="FF6600"/>
                </a:solidFill>
                <a:latin typeface="Bahnschrift Condensed" panose="020B0502040204020203" pitchFamily="34" charset="0"/>
                <a:sym typeface="Wingdings" panose="05000000000000000000" pitchFamily="2" charset="2"/>
              </a:rPr>
              <a:t>^</a:t>
            </a:r>
            <a:r>
              <a:rPr lang="ru-RU" sz="3600" dirty="0">
                <a:solidFill>
                  <a:srgbClr val="FF6600"/>
                </a:solidFill>
                <a:latin typeface="Bahnschrift Condensed" panose="020B0502040204020203" pitchFamily="34" charset="0"/>
                <a:sym typeface="Wingdings" panose="05000000000000000000" pitchFamily="2" charset="2"/>
              </a:rPr>
              <a:t>)</a:t>
            </a:r>
            <a:endParaRPr lang="ru-RU" sz="3600" dirty="0">
              <a:solidFill>
                <a:srgbClr val="FF6600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746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11DC4-FC81-4C5F-9AB3-F6B6590AB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050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6600" dirty="0">
                <a:solidFill>
                  <a:srgbClr val="FF6600"/>
                </a:solidFill>
                <a:latin typeface="Bahnschrift Condensed" panose="020B0502040204020203" pitchFamily="34" charset="0"/>
              </a:rPr>
              <a:t>ВЫВОДЫ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C7D03-516F-4482-96DE-FF6C7123CB1F}"/>
              </a:ext>
            </a:extLst>
          </p:cNvPr>
          <p:cNvSpPr txBox="1"/>
          <p:nvPr/>
        </p:nvSpPr>
        <p:spPr>
          <a:xfrm>
            <a:off x="0" y="1275054"/>
            <a:ext cx="12192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sz="40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Не всё так просто – однозначно связать социальные связи женщин с датой выхода фильма не получается</a:t>
            </a:r>
          </a:p>
          <a:p>
            <a:pPr marL="342900" indent="-342900">
              <a:buAutoNum type="arabicPeriod"/>
            </a:pPr>
            <a:r>
              <a:rPr lang="ru-RU" sz="40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Однако можно проследить тенденции</a:t>
            </a:r>
          </a:p>
          <a:p>
            <a:pPr marL="803275" lvl="1" indent="-346075">
              <a:buFont typeface="+mj-lt"/>
              <a:buAutoNum type="romanLcPeriod"/>
            </a:pPr>
            <a:r>
              <a:rPr lang="ru-RU" sz="40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растет доля женских персонажей (в нашей выборке) и разнообразие их взаимодействий</a:t>
            </a:r>
          </a:p>
          <a:p>
            <a:pPr marL="803275" lvl="1" indent="-346075">
              <a:buFont typeface="+mj-lt"/>
              <a:buAutoNum type="romanLcPeriod"/>
            </a:pPr>
            <a:r>
              <a:rPr lang="ru-RU" sz="40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если в социальных сетях более ранних фильмов женщины находятся на периферии и у них мало социальных связей, то с течением времени эта ситуация меняется</a:t>
            </a:r>
          </a:p>
        </p:txBody>
      </p:sp>
    </p:spTree>
    <p:extLst>
      <p:ext uri="{BB962C8B-B14F-4D97-AF65-F5344CB8AC3E}">
        <p14:creationId xmlns:p14="http://schemas.microsoft.com/office/powerpoint/2010/main" val="5869695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294</Words>
  <Application>Microsoft Office PowerPoint</Application>
  <PresentationFormat>Широкоэкранный</PresentationFormat>
  <Paragraphs>56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Bahnschrift Condensed</vt:lpstr>
      <vt:lpstr>Calibri</vt:lpstr>
      <vt:lpstr>Calibri Light</vt:lpstr>
      <vt:lpstr>Тема Office</vt:lpstr>
      <vt:lpstr>ПРО ЖЕНЩИН В КОМЕДИЯХ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 ЖЕНЩИН В КОМЕДИЯХ</dc:title>
  <dc:creator>Александра</dc:creator>
  <cp:lastModifiedBy>Анна Александрова</cp:lastModifiedBy>
  <cp:revision>39</cp:revision>
  <dcterms:created xsi:type="dcterms:W3CDTF">2021-04-01T14:41:54Z</dcterms:created>
  <dcterms:modified xsi:type="dcterms:W3CDTF">2021-04-03T11:07:03Z</dcterms:modified>
</cp:coreProperties>
</file>